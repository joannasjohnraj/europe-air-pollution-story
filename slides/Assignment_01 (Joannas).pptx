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1" r:id="rId3"/>
    <p:sldId id="257" r:id="rId4"/>
    <p:sldId id="259" r:id="rId5"/>
    <p:sldId id="260" r:id="rId6"/>
    <p:sldId id="262" r:id="rId7"/>
    <p:sldId id="263" r:id="rId8"/>
    <p:sldId id="264"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1" d="100"/>
          <a:sy n="81" d="100"/>
        </p:scale>
        <p:origin x="1498"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dirty="0"/>
              <a:t>Urban Air Pollution</a:t>
            </a:r>
          </a:p>
        </p:txBody>
      </p:sp>
      <p:sp>
        <p:nvSpPr>
          <p:cNvPr id="3" name="Subtitle 2"/>
          <p:cNvSpPr>
            <a:spLocks noGrp="1"/>
          </p:cNvSpPr>
          <p:nvPr>
            <p:ph type="subTitle" idx="1"/>
          </p:nvPr>
        </p:nvSpPr>
        <p:spPr>
          <a:xfrm>
            <a:off x="685800" y="3886200"/>
            <a:ext cx="7772400" cy="1752600"/>
          </a:xfrm>
        </p:spPr>
        <p:txBody>
          <a:bodyPr>
            <a:normAutofit/>
          </a:bodyPr>
          <a:lstStyle/>
          <a:p>
            <a:r>
              <a:rPr dirty="0"/>
              <a:t>Impact on Public Health in European Cities</a:t>
            </a:r>
          </a:p>
          <a:p>
            <a:r>
              <a:rPr lang="en-IN" dirty="0"/>
              <a:t>Joannas</a:t>
            </a:r>
            <a:r>
              <a:rPr dirty="0"/>
              <a:t> | </a:t>
            </a:r>
            <a:r>
              <a:rPr lang="en-IN" dirty="0"/>
              <a:t>Data Journalism &amp; Storytelling </a:t>
            </a:r>
            <a:r>
              <a:rPr dirty="0"/>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72E3A-00CA-DFC1-A68F-061BC0CC24F3}"/>
              </a:ext>
            </a:extLst>
          </p:cNvPr>
          <p:cNvSpPr>
            <a:spLocks noGrp="1"/>
          </p:cNvSpPr>
          <p:nvPr>
            <p:ph type="title"/>
          </p:nvPr>
        </p:nvSpPr>
        <p:spPr/>
        <p:txBody>
          <a:bodyPr/>
          <a:lstStyle/>
          <a:p>
            <a:r>
              <a:rPr lang="en-US" dirty="0"/>
              <a:t>Introduction – What is the Story?</a:t>
            </a:r>
            <a:endParaRPr lang="en-IN" dirty="0"/>
          </a:p>
        </p:txBody>
      </p:sp>
      <p:sp>
        <p:nvSpPr>
          <p:cNvPr id="3" name="Content Placeholder 2">
            <a:extLst>
              <a:ext uri="{FF2B5EF4-FFF2-40B4-BE49-F238E27FC236}">
                <a16:creationId xmlns:a16="http://schemas.microsoft.com/office/drawing/2014/main" id="{6775D00E-BACC-A116-E9D0-BEF6D900A721}"/>
              </a:ext>
            </a:extLst>
          </p:cNvPr>
          <p:cNvSpPr>
            <a:spLocks noGrp="1"/>
          </p:cNvSpPr>
          <p:nvPr>
            <p:ph idx="1"/>
          </p:nvPr>
        </p:nvSpPr>
        <p:spPr/>
        <p:txBody>
          <a:bodyPr>
            <a:normAutofit lnSpcReduction="10000"/>
          </a:bodyPr>
          <a:lstStyle/>
          <a:p>
            <a:r>
              <a:rPr lang="en-US" dirty="0"/>
              <a:t>Urban air pollution is becoming one of the most serious environmental health risks across Europe. Cities are experiencing rising levels of pollutants such as particulate matter (PM2.5) and nitrogen dioxide due to traffic, industry, and energy use.</a:t>
            </a:r>
          </a:p>
          <a:p>
            <a:r>
              <a:rPr lang="en-US" dirty="0"/>
              <a:t>This story focuses on how air quality in urban Europe is deteriorating—and why that trend is dangerous for human health and society.</a:t>
            </a:r>
          </a:p>
          <a:p>
            <a:pPr marL="0" indent="0">
              <a:buNone/>
            </a:pPr>
            <a:endParaRPr lang="en-IN" dirty="0"/>
          </a:p>
        </p:txBody>
      </p:sp>
    </p:spTree>
    <p:extLst>
      <p:ext uri="{BB962C8B-B14F-4D97-AF65-F5344CB8AC3E}">
        <p14:creationId xmlns:p14="http://schemas.microsoft.com/office/powerpoint/2010/main" val="9819027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Why Does It Matter?</a:t>
            </a:r>
            <a:endParaRPr dirty="0"/>
          </a:p>
        </p:txBody>
      </p:sp>
      <p:sp>
        <p:nvSpPr>
          <p:cNvPr id="3" name="Content Placeholder 2"/>
          <p:cNvSpPr>
            <a:spLocks noGrp="1"/>
          </p:cNvSpPr>
          <p:nvPr>
            <p:ph idx="1"/>
          </p:nvPr>
        </p:nvSpPr>
        <p:spPr/>
        <p:txBody>
          <a:bodyPr>
            <a:normAutofit fontScale="92500" lnSpcReduction="20000"/>
          </a:bodyPr>
          <a:lstStyle/>
          <a:p>
            <a:r>
              <a:rPr lang="en-US" dirty="0"/>
              <a:t>This issue matters because air pollution directly affects human health.</a:t>
            </a:r>
          </a:p>
          <a:p>
            <a:r>
              <a:rPr lang="en-US" dirty="0"/>
              <a:t>It contributes to </a:t>
            </a:r>
            <a:r>
              <a:rPr lang="en-US" b="1" dirty="0"/>
              <a:t>respiratory diseases</a:t>
            </a:r>
            <a:r>
              <a:rPr lang="en-US" dirty="0"/>
              <a:t> like asthma and chronic bronchitis </a:t>
            </a:r>
          </a:p>
          <a:p>
            <a:r>
              <a:rPr lang="en-US" dirty="0"/>
              <a:t>It increases the risk of </a:t>
            </a:r>
            <a:r>
              <a:rPr lang="en-US" b="1" dirty="0"/>
              <a:t>cardiovascular diseases</a:t>
            </a:r>
            <a:r>
              <a:rPr lang="en-US" dirty="0"/>
              <a:t>, including heart attacks and strokes </a:t>
            </a:r>
          </a:p>
          <a:p>
            <a:r>
              <a:rPr lang="en-US" dirty="0"/>
              <a:t>According to the World Health Organization, air pollution is one of the leading environmental causes of premature death globally </a:t>
            </a:r>
          </a:p>
          <a:p>
            <a:r>
              <a:rPr lang="en-US" dirty="0"/>
              <a:t>Beyond health, it also increases healthcare costs and reduces quality of life in cities.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Who is Affected?</a:t>
            </a:r>
            <a:endParaRPr dirty="0"/>
          </a:p>
        </p:txBody>
      </p:sp>
      <p:sp>
        <p:nvSpPr>
          <p:cNvPr id="3" name="Content Placeholder 2"/>
          <p:cNvSpPr>
            <a:spLocks noGrp="1"/>
          </p:cNvSpPr>
          <p:nvPr>
            <p:ph idx="1"/>
          </p:nvPr>
        </p:nvSpPr>
        <p:spPr/>
        <p:txBody>
          <a:bodyPr>
            <a:normAutofit fontScale="92500" lnSpcReduction="20000"/>
          </a:bodyPr>
          <a:lstStyle/>
          <a:p>
            <a:r>
              <a:rPr lang="en-US" dirty="0"/>
              <a:t>While everyone is exposed, some groups are more vulnerable:</a:t>
            </a:r>
          </a:p>
          <a:p>
            <a:r>
              <a:rPr lang="en-US" b="1" dirty="0"/>
              <a:t>Children</a:t>
            </a:r>
            <a:r>
              <a:rPr lang="en-US" dirty="0"/>
              <a:t> – developing lungs are more sensitive </a:t>
            </a:r>
          </a:p>
          <a:p>
            <a:r>
              <a:rPr lang="en-US" b="1" dirty="0"/>
              <a:t>Elderly people</a:t>
            </a:r>
            <a:r>
              <a:rPr lang="en-US" dirty="0"/>
              <a:t> – higher risk of heart and lung conditions </a:t>
            </a:r>
          </a:p>
          <a:p>
            <a:r>
              <a:rPr lang="en-US" b="1" dirty="0"/>
              <a:t>Low-income communities</a:t>
            </a:r>
            <a:r>
              <a:rPr lang="en-US" dirty="0"/>
              <a:t> – often live in more polluted areas </a:t>
            </a:r>
          </a:p>
          <a:p>
            <a:r>
              <a:rPr lang="en-US" dirty="0"/>
              <a:t>People with pre-existing health conditions </a:t>
            </a:r>
          </a:p>
          <a:p>
            <a:r>
              <a:rPr lang="en-US" dirty="0"/>
              <a:t>Urban residents across Europe—especially in densely populated cities—are the most impacted.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the Angle of the Story?</a:t>
            </a:r>
            <a:endParaRPr dirty="0"/>
          </a:p>
        </p:txBody>
      </p:sp>
      <p:sp>
        <p:nvSpPr>
          <p:cNvPr id="3" name="Content Placeholder 2"/>
          <p:cNvSpPr>
            <a:spLocks noGrp="1"/>
          </p:cNvSpPr>
          <p:nvPr>
            <p:ph idx="1"/>
          </p:nvPr>
        </p:nvSpPr>
        <p:spPr/>
        <p:txBody>
          <a:bodyPr>
            <a:normAutofit fontScale="92500" lnSpcReduction="20000"/>
          </a:bodyPr>
          <a:lstStyle/>
          <a:p>
            <a:r>
              <a:rPr lang="en-US" dirty="0"/>
              <a:t>The angle of this story is primarily </a:t>
            </a:r>
            <a:r>
              <a:rPr lang="en-US" b="1" dirty="0"/>
              <a:t>explanatory</a:t>
            </a:r>
            <a:r>
              <a:rPr lang="en-US" dirty="0"/>
              <a:t>, with elements of </a:t>
            </a:r>
            <a:r>
              <a:rPr lang="en-US" b="1" dirty="0"/>
              <a:t>investigative reporting</a:t>
            </a:r>
            <a:r>
              <a:rPr lang="en-US" dirty="0"/>
              <a:t>.</a:t>
            </a:r>
          </a:p>
          <a:p>
            <a:r>
              <a:rPr lang="en-US" dirty="0"/>
              <a:t>It explains </a:t>
            </a:r>
            <a:r>
              <a:rPr lang="en-US" i="1" dirty="0"/>
              <a:t>how and why</a:t>
            </a:r>
            <a:r>
              <a:rPr lang="en-US" dirty="0"/>
              <a:t> pollution levels are rising </a:t>
            </a:r>
          </a:p>
          <a:p>
            <a:r>
              <a:rPr lang="en-US" dirty="0"/>
              <a:t>It investigates </a:t>
            </a:r>
            <a:r>
              <a:rPr lang="en-US" i="1" dirty="0"/>
              <a:t>who is most affected</a:t>
            </a:r>
            <a:r>
              <a:rPr lang="en-US" dirty="0"/>
              <a:t> and </a:t>
            </a:r>
            <a:r>
              <a:rPr lang="en-US" i="1" dirty="0"/>
              <a:t>why certain areas are worse</a:t>
            </a:r>
            <a:r>
              <a:rPr lang="en-US" dirty="0"/>
              <a:t> </a:t>
            </a:r>
          </a:p>
          <a:p>
            <a:r>
              <a:rPr lang="en-US" dirty="0"/>
              <a:t>It can also include a </a:t>
            </a:r>
            <a:r>
              <a:rPr lang="en-US" b="1" dirty="0"/>
              <a:t>comparative angle</a:t>
            </a:r>
            <a:r>
              <a:rPr lang="en-US" dirty="0"/>
              <a:t>, looking at pollution differences between cities or countries </a:t>
            </a:r>
          </a:p>
          <a:p>
            <a:r>
              <a:rPr lang="en-US" dirty="0"/>
              <a:t>This makes the story informative for both the public and policymakers.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1EBFB-801E-A1FA-2CD6-43644DE144B1}"/>
              </a:ext>
            </a:extLst>
          </p:cNvPr>
          <p:cNvSpPr>
            <a:spLocks noGrp="1"/>
          </p:cNvSpPr>
          <p:nvPr>
            <p:ph type="title"/>
          </p:nvPr>
        </p:nvSpPr>
        <p:spPr/>
        <p:txBody>
          <a:bodyPr/>
          <a:lstStyle/>
          <a:p>
            <a:r>
              <a:rPr lang="en-IN" dirty="0"/>
              <a:t>What is the Data?</a:t>
            </a:r>
          </a:p>
        </p:txBody>
      </p:sp>
      <p:sp>
        <p:nvSpPr>
          <p:cNvPr id="3" name="Content Placeholder 2">
            <a:extLst>
              <a:ext uri="{FF2B5EF4-FFF2-40B4-BE49-F238E27FC236}">
                <a16:creationId xmlns:a16="http://schemas.microsoft.com/office/drawing/2014/main" id="{4F557876-1CC0-6FBB-5C52-5845E6708F01}"/>
              </a:ext>
            </a:extLst>
          </p:cNvPr>
          <p:cNvSpPr>
            <a:spLocks noGrp="1"/>
          </p:cNvSpPr>
          <p:nvPr>
            <p:ph idx="1"/>
          </p:nvPr>
        </p:nvSpPr>
        <p:spPr/>
        <p:txBody>
          <a:bodyPr/>
          <a:lstStyle/>
          <a:p>
            <a:r>
              <a:rPr lang="en-US" dirty="0"/>
              <a:t>The data behind this story focuses on:</a:t>
            </a:r>
          </a:p>
          <a:p>
            <a:r>
              <a:rPr lang="en-US" dirty="0"/>
              <a:t>Air pollutant levels (PM2.5, NO₂, ozone) </a:t>
            </a:r>
          </a:p>
          <a:p>
            <a:r>
              <a:rPr lang="en-US" dirty="0"/>
              <a:t>Health outcomes (hospital admissions, mortality rates) </a:t>
            </a:r>
          </a:p>
          <a:p>
            <a:r>
              <a:rPr lang="en-US" dirty="0"/>
              <a:t>Geographic comparisons across cities </a:t>
            </a:r>
          </a:p>
          <a:p>
            <a:r>
              <a:rPr lang="en-US" dirty="0"/>
              <a:t>This data helps establish both the scale of the problem and its real-world impact.</a:t>
            </a:r>
          </a:p>
        </p:txBody>
      </p:sp>
    </p:spTree>
    <p:extLst>
      <p:ext uri="{BB962C8B-B14F-4D97-AF65-F5344CB8AC3E}">
        <p14:creationId xmlns:p14="http://schemas.microsoft.com/office/powerpoint/2010/main" val="2599173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B6489-3AE8-C9A5-CDB8-3709687350DD}"/>
              </a:ext>
            </a:extLst>
          </p:cNvPr>
          <p:cNvSpPr>
            <a:spLocks noGrp="1"/>
          </p:cNvSpPr>
          <p:nvPr>
            <p:ph type="title"/>
          </p:nvPr>
        </p:nvSpPr>
        <p:spPr/>
        <p:txBody>
          <a:bodyPr/>
          <a:lstStyle/>
          <a:p>
            <a:r>
              <a:rPr lang="en-US" dirty="0"/>
              <a:t>Where Does the Data Come From?</a:t>
            </a:r>
            <a:endParaRPr lang="en-IN" dirty="0"/>
          </a:p>
        </p:txBody>
      </p:sp>
      <p:sp>
        <p:nvSpPr>
          <p:cNvPr id="3" name="Content Placeholder 2">
            <a:extLst>
              <a:ext uri="{FF2B5EF4-FFF2-40B4-BE49-F238E27FC236}">
                <a16:creationId xmlns:a16="http://schemas.microsoft.com/office/drawing/2014/main" id="{084D0854-E1CA-C59B-3616-2ACCC7FCF374}"/>
              </a:ext>
            </a:extLst>
          </p:cNvPr>
          <p:cNvSpPr>
            <a:spLocks noGrp="1"/>
          </p:cNvSpPr>
          <p:nvPr>
            <p:ph idx="1"/>
          </p:nvPr>
        </p:nvSpPr>
        <p:spPr/>
        <p:txBody>
          <a:bodyPr>
            <a:normAutofit fontScale="77500" lnSpcReduction="20000"/>
          </a:bodyPr>
          <a:lstStyle/>
          <a:p>
            <a:r>
              <a:rPr lang="en-US" dirty="0"/>
              <a:t>Reliable data sources include:</a:t>
            </a:r>
          </a:p>
          <a:p>
            <a:r>
              <a:rPr lang="en-US" dirty="0"/>
              <a:t>The European Environment Agency </a:t>
            </a:r>
          </a:p>
          <a:p>
            <a:pPr lvl="1"/>
            <a:r>
              <a:rPr lang="en-US" dirty="0"/>
              <a:t>Provides detailed air quality monitoring data across Europe </a:t>
            </a:r>
          </a:p>
          <a:p>
            <a:r>
              <a:rPr lang="en-US" dirty="0"/>
              <a:t>The World Health Organization Global Health Observatory </a:t>
            </a:r>
          </a:p>
          <a:p>
            <a:pPr lvl="1"/>
            <a:r>
              <a:rPr lang="en-US" dirty="0"/>
              <a:t>Offers health statistics and global comparisons </a:t>
            </a:r>
          </a:p>
          <a:p>
            <a:r>
              <a:rPr lang="en-US" b="1" dirty="0"/>
              <a:t>Accessibility:</a:t>
            </a:r>
            <a:endParaRPr lang="en-US" dirty="0"/>
          </a:p>
          <a:p>
            <a:r>
              <a:rPr lang="en-US" dirty="0"/>
              <a:t>These sources are publicly available online </a:t>
            </a:r>
          </a:p>
          <a:p>
            <a:r>
              <a:rPr lang="en-US" dirty="0"/>
              <a:t>Data can be downloaded and used for research, journalism, and policy analysis </a:t>
            </a:r>
          </a:p>
          <a:p>
            <a:r>
              <a:rPr lang="en-US" dirty="0"/>
              <a:t>However, interpreting the data may require some technical understanding</a:t>
            </a:r>
          </a:p>
        </p:txBody>
      </p:sp>
    </p:spTree>
    <p:extLst>
      <p:ext uri="{BB962C8B-B14F-4D97-AF65-F5344CB8AC3E}">
        <p14:creationId xmlns:p14="http://schemas.microsoft.com/office/powerpoint/2010/main" val="22583522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BFC4B-736D-014C-39BF-E7E8C8A53524}"/>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5B5DEF5D-2D22-A269-E1B0-BCE2AFBD4771}"/>
              </a:ext>
            </a:extLst>
          </p:cNvPr>
          <p:cNvSpPr>
            <a:spLocks noGrp="1"/>
          </p:cNvSpPr>
          <p:nvPr>
            <p:ph idx="1"/>
          </p:nvPr>
        </p:nvSpPr>
        <p:spPr/>
        <p:txBody>
          <a:bodyPr/>
          <a:lstStyle/>
          <a:p>
            <a:r>
              <a:rPr lang="en-US" dirty="0"/>
              <a:t>In conclusion, urban air pollution in Europe is a growing public health crisis. It affects millions, especially the most vulnerable, and requires urgent attention from policymakers.</a:t>
            </a:r>
          </a:p>
          <a:p>
            <a:r>
              <a:rPr lang="en-US" dirty="0"/>
              <a:t>By using reliable data and clear storytelling, we can better understand the issue and push for cleaner, healthier cities.</a:t>
            </a:r>
          </a:p>
          <a:p>
            <a:pPr marL="0" indent="0">
              <a:buNone/>
            </a:pPr>
            <a:endParaRPr lang="en-IN" dirty="0"/>
          </a:p>
        </p:txBody>
      </p:sp>
    </p:spTree>
    <p:extLst>
      <p:ext uri="{BB962C8B-B14F-4D97-AF65-F5344CB8AC3E}">
        <p14:creationId xmlns:p14="http://schemas.microsoft.com/office/powerpoint/2010/main" val="10670721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TotalTime>
  <Words>475</Words>
  <Application>Microsoft Office PowerPoint</Application>
  <PresentationFormat>On-screen Show (4:3)</PresentationFormat>
  <Paragraphs>44</Paragraphs>
  <Slides>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Urban Air Pollution</vt:lpstr>
      <vt:lpstr>Introduction – What is the Story?</vt:lpstr>
      <vt:lpstr>Why Does It Matter?</vt:lpstr>
      <vt:lpstr>Who is Affected?</vt:lpstr>
      <vt:lpstr>What is the Angle of the Story?</vt:lpstr>
      <vt:lpstr>What is the Data?</vt:lpstr>
      <vt:lpstr>Where Does the Data Come From?</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Joannas</cp:lastModifiedBy>
  <cp:revision>5</cp:revision>
  <dcterms:created xsi:type="dcterms:W3CDTF">2013-01-27T09:14:16Z</dcterms:created>
  <dcterms:modified xsi:type="dcterms:W3CDTF">2026-04-12T21:47:46Z</dcterms:modified>
  <cp:category/>
</cp:coreProperties>
</file>