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0T23:23:00.355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1,'0'14056,"0"-14033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0T23:23:22.440"/>
    </inkml:context>
    <inkml:brush xml:id="br0">
      <inkml:brushProperty name="width" value="0.035" units="cm"/>
      <inkml:brushProperty name="height" value="0.035" units="cm"/>
      <inkml:brushProperty name="color" value="#FFFFFF"/>
      <inkml:brushProperty name="ignorePressure" value="1"/>
    </inkml:brush>
  </inkml:definitions>
  <inkml:trace contextRef="#ctx0" brushRef="#br0">1 0,'0'14271,"0"-14240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0T23:23:56.823"/>
    </inkml:context>
    <inkml:brush xml:id="br0">
      <inkml:brushProperty name="width" value="0.1" units="cm"/>
      <inkml:brushProperty name="height" value="0.1" units="cm"/>
      <inkml:brushProperty name="color" value="#FFFFFF"/>
      <inkml:brushProperty name="ignorePressure" value="1"/>
    </inkml:brush>
  </inkml:definitions>
  <inkml:trace contextRef="#ctx0" brushRef="#br0">0 1,'0'14209,"0"-14188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0T23:25:53.246"/>
    </inkml:context>
    <inkml:brush xml:id="br0">
      <inkml:brushProperty name="width" value="0.1" units="cm"/>
      <inkml:brushProperty name="height" value="0.6" units="cm"/>
      <inkml:brushProperty name="color" value="#FFFFFF"/>
      <inkml:brushProperty name="ignorePressure" value="1"/>
      <inkml:brushProperty name="inkEffects" value="pencil"/>
    </inkml:brush>
  </inkml:definitions>
  <inkml:trace contextRef="#ctx0" brushRef="#br0">1 1,'5'0,"10"0,7 0,4 0,2 0,6 0,5 0,10 0,5 0,3 0,0 0,0 0,-6 0,-7 0,-2 0,0 0,3 0,-2 0,-5 0,-3 0,1 0,-2 0,-1 0,6 0,6 0,0 0,-4 0,1 0,-3 0,1 0,-2 0,2 0,-2 0,-3 0,2 0,-1 0,-3 0,-1 0,1 0,1 0,-2 0,3 0,0 0,-2 0,-1 0,-3 0,4 0,4 0,1 0,-2 0,2 0,-1 0,-2 0,-3 0,2 0,0 0,-2 0,3 0,9 0,1 0,-2 0,0 0,10 0,6 0,2 0,-2 0,-1 0,-1 0,-7 0,-2 0,-5 0,-6 0,0 0,8 0,8 0,14 0,18 0,20 0,20 0,11 0,9 0,6 0,9 0,4 0,5 0,5 0,4 0,-6 0,-1 0,2 0,6 0,1 0,0 0,0 0,-2 0,11 0,11 0,6 0,3 0,3 0,-4 0,-15 0,-19 0,-15 0,-18 0,-20 0,-11 0,-8 0,-3 0,4 0,11 0,13 0,16 0,15 0,11 0,5 0,3 0,2 0,-6 0,-15 0,-21 0,-16 0,-11 0,-10 0,-10 0,-10 0,-15 0,-10 0,0 0,-5 0,-7 0,-2 0,-3 0,-4 0,-3 0,-7 0,1 0,2 0,-1 0,5 0,7 0,0 0,-1 0,-3 0,6 0,10 0,1 0,-4 0,3 0,-2 0,-4 0,-2 0,-3 0,-4 0,-3 0,2 0,-1 0,-1 0,-6 0,1 0,1 0,4 0,1 0,0 0,3 0,0 0,-2 0,-2 0,2 0,0 0,-2 0,-1 0,3 0,0 0,-2 0,3 0,0 0,-1 0,2 0,4 0,-1 0,3 0,-2 0,1 0,-1 0,-4 0,-3 0,6 0,0 0,-1 0,-3 0,2 0,-1 0,-3 0,3 0,-1 0,-7 0,-2 0,-7 0,-6 0,-5 0,-5 0,-2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0T23:26:09.086"/>
    </inkml:context>
    <inkml:brush xml:id="br0">
      <inkml:brushProperty name="width" value="0.1" units="cm"/>
      <inkml:brushProperty name="height" value="0.1" units="cm"/>
      <inkml:brushProperty name="color" value="#FFFFFF"/>
      <inkml:brushProperty name="ignorePressure" value="1"/>
    </inkml:brush>
  </inkml:definitions>
  <inkml:trace contextRef="#ctx0" brushRef="#br0">1 1,'30813'0,"-27532"0,-3249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0T23:26:44.978"/>
    </inkml:context>
    <inkml:brush xml:id="br0">
      <inkml:brushProperty name="width" value="0.1" units="cm"/>
      <inkml:brushProperty name="height" value="0.1" units="cm"/>
      <inkml:brushProperty name="color" value="#FFFFFF"/>
      <inkml:brushProperty name="ignorePressure" value="1"/>
    </inkml:brush>
  </inkml:definitions>
  <inkml:trace contextRef="#ctx0" brushRef="#br0">1 0,'31859'0,"-29359"0,-4412 0,1884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25D40-2CDB-4FA1-AB6F-BDCCC11FC0AA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33A85-D934-42DA-9C2F-8DD7F83218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346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25D40-2CDB-4FA1-AB6F-BDCCC11FC0AA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33A85-D934-42DA-9C2F-8DD7F83218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3646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25D40-2CDB-4FA1-AB6F-BDCCC11FC0AA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33A85-D934-42DA-9C2F-8DD7F83218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3268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25D40-2CDB-4FA1-AB6F-BDCCC11FC0AA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33A85-D934-42DA-9C2F-8DD7F83218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3577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25D40-2CDB-4FA1-AB6F-BDCCC11FC0AA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33A85-D934-42DA-9C2F-8DD7F83218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2764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25D40-2CDB-4FA1-AB6F-BDCCC11FC0AA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33A85-D934-42DA-9C2F-8DD7F83218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1325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25D40-2CDB-4FA1-AB6F-BDCCC11FC0AA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33A85-D934-42DA-9C2F-8DD7F83218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2521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25D40-2CDB-4FA1-AB6F-BDCCC11FC0AA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33A85-D934-42DA-9C2F-8DD7F83218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4677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25D40-2CDB-4FA1-AB6F-BDCCC11FC0AA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33A85-D934-42DA-9C2F-8DD7F83218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7955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25D40-2CDB-4FA1-AB6F-BDCCC11FC0AA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33A85-D934-42DA-9C2F-8DD7F83218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7844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25D40-2CDB-4FA1-AB6F-BDCCC11FC0AA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33A85-D934-42DA-9C2F-8DD7F83218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3533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725D40-2CDB-4FA1-AB6F-BDCCC11FC0AA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233A85-D934-42DA-9C2F-8DD7F83218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80066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12" Type="http://schemas.openxmlformats.org/officeDocument/2006/relationships/customXml" Target="../ink/ink6.xml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5.xml"/><Relationship Id="rId6" Type="http://schemas.openxmlformats.org/officeDocument/2006/relationships/customXml" Target="../ink/ink3.xml"/><Relationship Id="rId11" Type="http://schemas.openxmlformats.org/officeDocument/2006/relationships/image" Target="../media/image5.png"/><Relationship Id="rId5" Type="http://schemas.openxmlformats.org/officeDocument/2006/relationships/image" Target="../media/image2.png"/><Relationship Id="rId10" Type="http://schemas.openxmlformats.org/officeDocument/2006/relationships/customXml" Target="../ink/ink5.xml"/><Relationship Id="rId4" Type="http://schemas.openxmlformats.org/officeDocument/2006/relationships/customXml" Target="../ink/ink2.xml"/><Relationship Id="rId9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ABC1F-424B-5266-89EF-ED84A3CAB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23912"/>
          </a:xfrm>
        </p:spPr>
        <p:txBody>
          <a:bodyPr/>
          <a:lstStyle/>
          <a:p>
            <a:pPr algn="ctr"/>
            <a:r>
              <a:rPr lang="en-US" b="1" u="sng" dirty="0"/>
              <a:t>Narrative Structures for the Visual Data Story</a:t>
            </a:r>
            <a:endParaRPr lang="en-IN" b="1" u="sng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72AE87-6A39-55B8-F8D3-A1FC85450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888723"/>
            <a:ext cx="5997575" cy="823912"/>
          </a:xfrm>
        </p:spPr>
        <p:txBody>
          <a:bodyPr>
            <a:normAutofit fontScale="55000" lnSpcReduction="20000"/>
          </a:bodyPr>
          <a:lstStyle/>
          <a:p>
            <a:pPr algn="ctr"/>
            <a:r>
              <a:rPr lang="en-IN" sz="6500" u="sng" dirty="0"/>
              <a:t>Martini Glass</a:t>
            </a:r>
          </a:p>
          <a:p>
            <a:pPr algn="ctr"/>
            <a:r>
              <a:rPr lang="en-IN" sz="3200" dirty="0"/>
              <a:t>Author-driven introduction → reader-driven exploration</a:t>
            </a:r>
            <a:endParaRPr lang="en-IN" sz="3200" u="sn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FC28D5-2082-165E-9DAA-D52EA376C1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0" y="1777446"/>
            <a:ext cx="6127748" cy="268143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2200" dirty="0"/>
              <a:t>🌍</a:t>
            </a:r>
            <a:r>
              <a:rPr lang="en-IN" sz="2200" b="1" dirty="0"/>
              <a:t>Setup</a:t>
            </a:r>
            <a:r>
              <a:rPr lang="en-IN" sz="2200" dirty="0"/>
              <a:t>: </a:t>
            </a:r>
            <a:r>
              <a:rPr lang="en-IN" sz="1600" dirty="0"/>
              <a:t>Europe’s air quality improved overall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2400" dirty="0"/>
              <a:t>📈</a:t>
            </a:r>
            <a:r>
              <a:rPr lang="en-IN" sz="2200" b="1" dirty="0"/>
              <a:t>Rising</a:t>
            </a:r>
            <a:r>
              <a:rPr lang="en-IN" sz="2200" dirty="0"/>
              <a:t> </a:t>
            </a:r>
            <a:r>
              <a:rPr lang="en-IN" sz="2200" b="1" dirty="0"/>
              <a:t>Action</a:t>
            </a:r>
            <a:r>
              <a:rPr lang="en-IN" sz="2200" dirty="0"/>
              <a:t>: </a:t>
            </a:r>
            <a:r>
              <a:rPr lang="en-US" sz="1800" dirty="0"/>
              <a:t>PM2.5 trends and regional comparisons</a:t>
            </a:r>
            <a:endParaRPr lang="en-IN" sz="2200" dirty="0"/>
          </a:p>
          <a:p>
            <a:pPr marL="0" indent="0">
              <a:lnSpc>
                <a:spcPct val="150000"/>
              </a:lnSpc>
              <a:buNone/>
            </a:pPr>
            <a:r>
              <a:rPr lang="en-IN" sz="2400" dirty="0"/>
              <a:t>⚠️</a:t>
            </a:r>
            <a:r>
              <a:rPr lang="en-IN" sz="2200" b="1" dirty="0"/>
              <a:t>Climax</a:t>
            </a:r>
            <a:r>
              <a:rPr lang="en-IN" sz="2200" dirty="0"/>
              <a:t>: </a:t>
            </a:r>
            <a:r>
              <a:rPr lang="en-IN" sz="1600" dirty="0"/>
              <a:t>Unequal pollution exposure becomes visible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2400" dirty="0"/>
              <a:t>✅</a:t>
            </a:r>
            <a:r>
              <a:rPr lang="en-IN" sz="2200" b="1" dirty="0"/>
              <a:t>Resolution</a:t>
            </a:r>
            <a:r>
              <a:rPr lang="en-IN" sz="2200" dirty="0"/>
              <a:t>: </a:t>
            </a:r>
            <a:r>
              <a:rPr lang="en-US" sz="1600" dirty="0"/>
              <a:t>Reader explores countries/regions interactively</a:t>
            </a:r>
            <a:endParaRPr lang="en-IN" sz="16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21E687-7FB1-595F-304B-E1D7C7F563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1087" y="888723"/>
            <a:ext cx="6019800" cy="823912"/>
          </a:xfrm>
        </p:spPr>
        <p:txBody>
          <a:bodyPr>
            <a:normAutofit fontScale="55000" lnSpcReduction="20000"/>
          </a:bodyPr>
          <a:lstStyle/>
          <a:p>
            <a:pPr algn="ctr"/>
            <a:r>
              <a:rPr lang="en-IN" sz="5800" u="sng" dirty="0"/>
              <a:t>Interactive Slideshow</a:t>
            </a:r>
          </a:p>
          <a:p>
            <a:pPr algn="ctr"/>
            <a:r>
              <a:rPr lang="en-US" sz="3200" dirty="0"/>
              <a:t>Author-guided story with interaction throughout</a:t>
            </a:r>
            <a:endParaRPr lang="en-IN" sz="3200" u="sng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95FA81-A9C4-D3BD-21C7-8FFA30C8D8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96000" y="1777447"/>
            <a:ext cx="6073774" cy="268143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2200" dirty="0"/>
              <a:t>🌍</a:t>
            </a:r>
            <a:r>
              <a:rPr lang="en-US" sz="2200" b="1" dirty="0"/>
              <a:t>Setup</a:t>
            </a:r>
            <a:r>
              <a:rPr lang="en-US" sz="2200" dirty="0"/>
              <a:t>: </a:t>
            </a:r>
            <a:r>
              <a:rPr lang="en-US" sz="1600" dirty="0"/>
              <a:t>Introduce PM2.5 and health relevance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2400" dirty="0"/>
              <a:t>📈</a:t>
            </a:r>
            <a:r>
              <a:rPr lang="en-US" sz="2200" b="1" dirty="0"/>
              <a:t>Rising</a:t>
            </a:r>
            <a:r>
              <a:rPr lang="en-US" sz="2200" dirty="0"/>
              <a:t> </a:t>
            </a:r>
            <a:r>
              <a:rPr lang="en-US" sz="2200" b="1" dirty="0"/>
              <a:t>Action</a:t>
            </a:r>
            <a:r>
              <a:rPr lang="en-US" sz="2200" dirty="0"/>
              <a:t>: </a:t>
            </a:r>
            <a:r>
              <a:rPr lang="en-IN" sz="1600" dirty="0"/>
              <a:t>Interactive maps and comparisons</a:t>
            </a:r>
            <a:endParaRPr lang="en-US" sz="2200" dirty="0"/>
          </a:p>
          <a:p>
            <a:pPr marL="0" indent="0">
              <a:lnSpc>
                <a:spcPct val="150000"/>
              </a:lnSpc>
              <a:buNone/>
            </a:pPr>
            <a:r>
              <a:rPr lang="en-IN" sz="2400" dirty="0"/>
              <a:t>⚠️</a:t>
            </a:r>
            <a:r>
              <a:rPr lang="en-US" sz="2200" b="1" dirty="0"/>
              <a:t>Climax</a:t>
            </a:r>
            <a:r>
              <a:rPr lang="en-US" sz="2200" dirty="0"/>
              <a:t>: </a:t>
            </a:r>
            <a:r>
              <a:rPr lang="en-IN" sz="1600" dirty="0"/>
              <a:t>Reader discovers regional disparities</a:t>
            </a:r>
            <a:endParaRPr lang="en-US" sz="1600" dirty="0"/>
          </a:p>
          <a:p>
            <a:pPr marL="0" indent="0">
              <a:lnSpc>
                <a:spcPct val="150000"/>
              </a:lnSpc>
              <a:buNone/>
            </a:pPr>
            <a:r>
              <a:rPr lang="en-IN" sz="2400" dirty="0"/>
              <a:t>✅</a:t>
            </a:r>
            <a:r>
              <a:rPr lang="en-US" sz="2200" b="1" dirty="0"/>
              <a:t>Resolution</a:t>
            </a:r>
            <a:r>
              <a:rPr lang="en-US" sz="2200" dirty="0"/>
              <a:t>: </a:t>
            </a:r>
            <a:r>
              <a:rPr lang="en-US" sz="1600" dirty="0"/>
              <a:t>Continued exploration of trends and regions</a:t>
            </a:r>
            <a:endParaRPr lang="en-IN" sz="2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D0387A-CE3B-A475-9DA8-AE579B458BA9}"/>
              </a:ext>
            </a:extLst>
          </p:cNvPr>
          <p:cNvSpPr txBox="1"/>
          <p:nvPr/>
        </p:nvSpPr>
        <p:spPr>
          <a:xfrm>
            <a:off x="0" y="4458877"/>
            <a:ext cx="59975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/>
              <a:t>Advantage</a:t>
            </a:r>
            <a:r>
              <a:rPr lang="en-US" sz="2400" dirty="0"/>
              <a:t> - Strong narrative flow, Clear reveal of inequality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/>
              <a:t>Disadvantage</a:t>
            </a:r>
            <a:r>
              <a:rPr lang="en-US" sz="2400" dirty="0"/>
              <a:t> - </a:t>
            </a:r>
            <a:r>
              <a:rPr lang="en-US" sz="2000" dirty="0"/>
              <a:t>Limited interaction in early stages</a:t>
            </a:r>
            <a:endParaRPr lang="en-IN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CC0777-67D5-DF1C-610E-9A4FA306C960}"/>
              </a:ext>
            </a:extLst>
          </p:cNvPr>
          <p:cNvSpPr txBox="1"/>
          <p:nvPr/>
        </p:nvSpPr>
        <p:spPr>
          <a:xfrm>
            <a:off x="6161087" y="4458877"/>
            <a:ext cx="599757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/>
              <a:t>Advantage</a:t>
            </a:r>
            <a:r>
              <a:rPr lang="en-US" sz="2400" dirty="0"/>
              <a:t> - More engaging interactions, Better integration of visuals</a:t>
            </a:r>
            <a:endParaRPr lang="en-IN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/>
              <a:t>Disadvantage</a:t>
            </a:r>
            <a:r>
              <a:rPr lang="en-US" sz="2400" dirty="0"/>
              <a:t> - </a:t>
            </a:r>
            <a:r>
              <a:rPr lang="en-US" sz="2000" dirty="0"/>
              <a:t>Less control over narrative flow</a:t>
            </a:r>
            <a:r>
              <a:rPr lang="en-IN" sz="2400" dirty="0"/>
              <a:t> </a:t>
            </a:r>
            <a:endParaRPr lang="en-US" sz="2400" dirty="0"/>
          </a:p>
          <a:p>
            <a:endParaRPr lang="en-IN" sz="2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8DF9647-44D4-3114-3680-44C10B2C5A4B}"/>
              </a:ext>
            </a:extLst>
          </p:cNvPr>
          <p:cNvSpPr txBox="1"/>
          <p:nvPr/>
        </p:nvSpPr>
        <p:spPr>
          <a:xfrm>
            <a:off x="33339" y="5894876"/>
            <a:ext cx="121586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The Interactive Slideshow structure may better support visual storytelling and continuous interaction, while the Martini Glass structure provides stronger narrative control and clearer storytelling progression</a:t>
            </a:r>
            <a:endParaRPr lang="en-IN" sz="2000" i="1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0472C0F3-A265-96CC-A71D-F1C43970E696}"/>
                  </a:ext>
                </a:extLst>
              </p14:cNvPr>
              <p14:cNvContentPartPr/>
              <p14:nvPr/>
            </p14:nvContentPartPr>
            <p14:xfrm>
              <a:off x="6036113" y="687945"/>
              <a:ext cx="360" cy="50688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0472C0F3-A265-96CC-A71D-F1C43970E69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29993" y="681825"/>
                <a:ext cx="12600" cy="508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697E16ED-C38F-5101-E7AD-5776DB4EE09E}"/>
                  </a:ext>
                </a:extLst>
              </p14:cNvPr>
              <p14:cNvContentPartPr/>
              <p14:nvPr/>
            </p14:nvContentPartPr>
            <p14:xfrm>
              <a:off x="6036113" y="678945"/>
              <a:ext cx="360" cy="514908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697E16ED-C38F-5101-E7AD-5776DB4EE09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29993" y="672825"/>
                <a:ext cx="12600" cy="516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1D80FB9D-8D50-418E-2E80-378C771CBBD1}"/>
                  </a:ext>
                </a:extLst>
              </p14:cNvPr>
              <p14:cNvContentPartPr/>
              <p14:nvPr/>
            </p14:nvContentPartPr>
            <p14:xfrm>
              <a:off x="6047993" y="706665"/>
              <a:ext cx="360" cy="51231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1D80FB9D-8D50-418E-2E80-378C771CBBD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029993" y="689025"/>
                <a:ext cx="36000" cy="515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9CE8F5AC-C175-B5BB-B271-41A026A7D997}"/>
                  </a:ext>
                </a:extLst>
              </p14:cNvPr>
              <p14:cNvContentPartPr/>
              <p14:nvPr/>
            </p14:nvContentPartPr>
            <p14:xfrm>
              <a:off x="18353" y="4471905"/>
              <a:ext cx="4819680" cy="3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9CE8F5AC-C175-B5BB-B271-41A026A7D99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13" y="4364265"/>
                <a:ext cx="485532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9253FD01-8BE6-C398-32AB-A1507F3D8AE5}"/>
                  </a:ext>
                </a:extLst>
              </p14:cNvPr>
              <p14:cNvContentPartPr/>
              <p14:nvPr/>
            </p14:nvContentPartPr>
            <p14:xfrm>
              <a:off x="-66247" y="4471905"/>
              <a:ext cx="12285720" cy="3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9253FD01-8BE6-C398-32AB-A1507F3D8AE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-83887" y="4454265"/>
                <a:ext cx="1232136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D904F221-A823-FD30-B882-4C6BF2CCC2E7}"/>
                  </a:ext>
                </a:extLst>
              </p14:cNvPr>
              <p14:cNvContentPartPr/>
              <p14:nvPr/>
            </p14:nvContentPartPr>
            <p14:xfrm>
              <a:off x="-75607" y="5810745"/>
              <a:ext cx="12369960" cy="36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D904F221-A823-FD30-B882-4C6BF2CCC2E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-93247" y="5792745"/>
                <a:ext cx="1240560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60841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28</TotalTime>
  <Words>147</Words>
  <Application>Microsoft Office PowerPoint</Application>
  <PresentationFormat>Widescreen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Wingdings</vt:lpstr>
      <vt:lpstr>Office Theme</vt:lpstr>
      <vt:lpstr>Narrative Structures for the Visual Data Story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Joannas</dc:creator>
  <cp:lastModifiedBy>Joannas</cp:lastModifiedBy>
  <cp:revision>5</cp:revision>
  <dcterms:created xsi:type="dcterms:W3CDTF">2026-05-10T23:04:35Z</dcterms:created>
  <dcterms:modified xsi:type="dcterms:W3CDTF">2026-05-12T09:29:00Z</dcterms:modified>
</cp:coreProperties>
</file>